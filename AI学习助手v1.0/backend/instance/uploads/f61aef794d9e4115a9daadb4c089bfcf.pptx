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533" r:id="rId5"/>
    <p:sldId id="258" r:id="rId6"/>
    <p:sldId id="457" r:id="rId7"/>
    <p:sldId id="472" r:id="rId8"/>
    <p:sldId id="502" r:id="rId9"/>
    <p:sldId id="501" r:id="rId10"/>
    <p:sldId id="496" r:id="rId11"/>
    <p:sldId id="473" r:id="rId12"/>
    <p:sldId id="509" r:id="rId13"/>
    <p:sldId id="510" r:id="rId14"/>
    <p:sldId id="519" r:id="rId15"/>
    <p:sldId id="520" r:id="rId16"/>
    <p:sldId id="521" r:id="rId17"/>
    <p:sldId id="522" r:id="rId18"/>
    <p:sldId id="506" r:id="rId19"/>
    <p:sldId id="505" r:id="rId20"/>
    <p:sldId id="523" r:id="rId21"/>
    <p:sldId id="524" r:id="rId22"/>
    <p:sldId id="503" r:id="rId23"/>
    <p:sldId id="504" r:id="rId24"/>
    <p:sldId id="515" r:id="rId25"/>
    <p:sldId id="514" r:id="rId26"/>
    <p:sldId id="511" r:id="rId27"/>
    <p:sldId id="512" r:id="rId28"/>
    <p:sldId id="507" r:id="rId29"/>
    <p:sldId id="508" r:id="rId30"/>
    <p:sldId id="517" r:id="rId31"/>
    <p:sldId id="518" r:id="rId32"/>
    <p:sldId id="526" r:id="rId33"/>
    <p:sldId id="527" r:id="rId34"/>
    <p:sldId id="529" r:id="rId35"/>
    <p:sldId id="530" r:id="rId36"/>
    <p:sldId id="531" r:id="rId37"/>
  </p:sldIdLst>
  <p:sldSz cx="24384000" cy="13716000"/>
  <p:notesSz cx="6858000" cy="9144000"/>
  <p:embeddedFontLst>
    <p:embeddedFont>
      <p:font typeface="楷体" panose="02010609060101010101" charset="-122"/>
      <p:regular r:id="rId41"/>
    </p:embeddedFont>
    <p:embeddedFont>
      <p:font typeface="黑体" panose="02010609060101010101" charset="-122"/>
      <p:regular r:id="rId42"/>
    </p:embeddedFont>
  </p:embeddedFontLst>
  <p:custDataLst>
    <p:tags r:id="rId4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31" autoAdjust="0"/>
  </p:normalViewPr>
  <p:slideViewPr>
    <p:cSldViewPr snapToGrid="0">
      <p:cViewPr varScale="1">
        <p:scale>
          <a:sx n="56" d="100"/>
          <a:sy n="56" d="100"/>
        </p:scale>
        <p:origin x="10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.xml"/><Relationship Id="rId42" Type="http://schemas.openxmlformats.org/officeDocument/2006/relationships/font" Target="fonts/font2.fntdata"/><Relationship Id="rId41" Type="http://schemas.openxmlformats.org/officeDocument/2006/relationships/font" Target="fonts/font1.fntdata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wallhaven-rdvvlq.jpg" descr="wallhaven-rdvvlq.jpg"/>
          <p:cNvPicPr>
            <a:picLocks noChangeAspect="1"/>
          </p:cNvPicPr>
          <p:nvPr/>
        </p:nvPicPr>
        <p:blipFill>
          <a:blip r:embed="rId2">
            <a:alphaModFix amt="73715"/>
          </a:blip>
          <a:stretch>
            <a:fillRect/>
          </a:stretch>
        </p:blipFill>
        <p:spPr>
          <a:xfrm>
            <a:off x="-1" y="8708"/>
            <a:ext cx="24384001" cy="136985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" name="未命名.png" descr="未命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455" y="411980"/>
            <a:ext cx="1750700" cy="4610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" name="未命名2.png" descr="未命名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103" y="-81128"/>
            <a:ext cx="1929647" cy="14472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wallhaven-qzqvp7.png" descr="wallhaven-qzqvp7.png"/>
          <p:cNvPicPr>
            <a:picLocks noChangeAspect="1"/>
          </p:cNvPicPr>
          <p:nvPr/>
        </p:nvPicPr>
        <p:blipFill>
          <a:blip r:embed="rId2">
            <a:alphaModFix amt="68948"/>
          </a:blip>
          <a:stretch>
            <a:fillRect/>
          </a:stretch>
        </p:blipFill>
        <p:spPr>
          <a:xfrm>
            <a:off x="-496866" y="-2093472"/>
            <a:ext cx="25377732" cy="16918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" name="未命名.png" descr="未命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455" y="411980"/>
            <a:ext cx="1750701" cy="4610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" name="未命名2.png" descr="未命名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103" y="-81128"/>
            <a:ext cx="1929648" cy="14472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5746308" y="5399214"/>
            <a:ext cx="13119984" cy="2187118"/>
          </a:xfrm>
          <a:prstGeom prst="rect">
            <a:avLst/>
          </a:prstGeom>
        </p:spPr>
        <p:txBody>
          <a:bodyPr anchor="ctr"/>
          <a:lstStyle>
            <a:lvl1pPr algn="ctr" defTabSz="2438400">
              <a:lnSpc>
                <a:spcPct val="80000"/>
              </a:lnSpc>
              <a:defRPr sz="10000" spc="-200">
                <a:solidFill>
                  <a:srgbClr val="FFFFFF"/>
                </a:solidFill>
              </a:defRPr>
            </a:lvl1pPr>
          </a:lstStyle>
          <a:p>
            <a:r>
              <a:t>幻灯片标题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未命名.jpg" descr="未命名.jpg"/>
          <p:cNvPicPr>
            <a:picLocks noChangeAspect="1"/>
          </p:cNvPicPr>
          <p:nvPr userDrawn="1"/>
        </p:nvPicPr>
        <p:blipFill>
          <a:blip r:embed="rId2">
            <a:alphaModFix amt="80028"/>
          </a:blip>
          <a:stretch>
            <a:fillRect/>
          </a:stretch>
        </p:blipFill>
        <p:spPr>
          <a:xfrm>
            <a:off x="19841111" y="430850"/>
            <a:ext cx="1636706" cy="737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1688890" y="597552"/>
            <a:ext cx="2015020" cy="5306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" name="线条"/>
          <p:cNvSpPr/>
          <p:nvPr userDrawn="1"/>
        </p:nvSpPr>
        <p:spPr>
          <a:xfrm>
            <a:off x="581148" y="1527029"/>
            <a:ext cx="23221704" cy="1"/>
          </a:xfrm>
          <a:prstGeom prst="line">
            <a:avLst/>
          </a:prstGeom>
          <a:ln w="25400">
            <a:solidFill>
              <a:srgbClr val="7F9191"/>
            </a:solidFill>
            <a:miter lim="400000"/>
          </a:ln>
        </p:spPr>
        <p:txBody>
          <a:bodyPr lIns="50800" tIns="50800" rIns="50800" bIns="50800" anchor="ctr"/>
          <a:lstStyle/>
          <a:p/>
        </p:txBody>
      </p:sp>
      <p:sp>
        <p:nvSpPr>
          <p:cNvPr id="5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43044" y="374169"/>
            <a:ext cx="10477501" cy="97738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t>幻灯片标题</a:t>
            </a:r>
          </a:p>
        </p:txBody>
      </p:sp>
      <p:pic>
        <p:nvPicPr>
          <p:cNvPr id="52" name="20250308172252.png" descr="20250308172252.png"/>
          <p:cNvPicPr>
            <a:picLocks noChangeAspect="1"/>
          </p:cNvPicPr>
          <p:nvPr userDrawn="1"/>
        </p:nvPicPr>
        <p:blipFill>
          <a:blip r:embed="rId4">
            <a:alphaModFix amt="53471"/>
          </a:blip>
          <a:srcRect b="52457"/>
          <a:stretch>
            <a:fillRect/>
          </a:stretch>
        </p:blipFill>
        <p:spPr>
          <a:xfrm>
            <a:off x="18329327" y="12979486"/>
            <a:ext cx="5829796" cy="530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矩形"/>
          <p:cNvSpPr/>
          <p:nvPr userDrawn="1"/>
        </p:nvSpPr>
        <p:spPr>
          <a:xfrm>
            <a:off x="569800" y="494350"/>
            <a:ext cx="269381" cy="737026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" name="文本框 3"/>
          <p:cNvSpPr txBox="1"/>
          <p:nvPr userDrawn="1"/>
        </p:nvSpPr>
        <p:spPr>
          <a:xfrm>
            <a:off x="352425" y="13161328"/>
            <a:ext cx="9697085" cy="4337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l" defTabSz="24384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1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Helvetica Neue" panose="02000503000000020004"/>
              </a:rPr>
              <a:t>教学监督邮箱：</a:t>
            </a:r>
            <a:r>
              <a:rPr kumimoji="0" lang="en-US" altLang="zh-CN" sz="2400" b="0" i="1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Helvetica Neue" panose="02000503000000020004"/>
              </a:rPr>
              <a:t>feedback@zhipoai.cn</a:t>
            </a:r>
            <a:endParaRPr kumimoji="0" lang="en-US" altLang="zh-CN" sz="2400" b="0" i="1" strike="noStrike" cap="none" spc="0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1.jpeg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50308172252.png" descr="20250308172252.png"/>
          <p:cNvPicPr>
            <a:picLocks noChangeAspect="1"/>
          </p:cNvPicPr>
          <p:nvPr/>
        </p:nvPicPr>
        <p:blipFill>
          <a:blip r:embed="rId6">
            <a:alphaModFix amt="53471"/>
          </a:blip>
          <a:srcRect b="52457"/>
          <a:stretch>
            <a:fillRect/>
          </a:stretch>
        </p:blipFill>
        <p:spPr>
          <a:xfrm>
            <a:off x="18329327" y="12979486"/>
            <a:ext cx="5829796" cy="530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wallhaven-rdvvlq.jpg" descr="wallhaven-rdvvlq.jpg"/>
          <p:cNvPicPr>
            <a:picLocks noChangeAspect="1"/>
          </p:cNvPicPr>
          <p:nvPr/>
        </p:nvPicPr>
        <p:blipFill>
          <a:blip r:embed="rId7"/>
          <a:srcRect l="51258" t="79" r="120" b="91"/>
          <a:stretch>
            <a:fillRect/>
          </a:stretch>
        </p:blipFill>
        <p:spPr>
          <a:xfrm>
            <a:off x="-3362115" y="-131565"/>
            <a:ext cx="12119241" cy="13979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42" h="21600" extrusionOk="0">
                <a:moveTo>
                  <a:pt x="18981" y="0"/>
                </a:moveTo>
                <a:lnTo>
                  <a:pt x="0" y="40"/>
                </a:lnTo>
                <a:lnTo>
                  <a:pt x="0" y="21600"/>
                </a:lnTo>
                <a:lnTo>
                  <a:pt x="18464" y="21600"/>
                </a:lnTo>
                <a:cubicBezTo>
                  <a:pt x="19187" y="20932"/>
                  <a:pt x="19470" y="19979"/>
                  <a:pt x="19213" y="19080"/>
                </a:cubicBezTo>
                <a:cubicBezTo>
                  <a:pt x="18981" y="18273"/>
                  <a:pt x="18317" y="17557"/>
                  <a:pt x="18425" y="16720"/>
                </a:cubicBezTo>
                <a:cubicBezTo>
                  <a:pt x="18575" y="15561"/>
                  <a:pt x="20094" y="14917"/>
                  <a:pt x="20234" y="13755"/>
                </a:cubicBezTo>
                <a:cubicBezTo>
                  <a:pt x="20419" y="12209"/>
                  <a:pt x="18254" y="11381"/>
                  <a:pt x="18043" y="9903"/>
                </a:cubicBezTo>
                <a:cubicBezTo>
                  <a:pt x="17839" y="8471"/>
                  <a:pt x="19494" y="7572"/>
                  <a:pt x="20268" y="6333"/>
                </a:cubicBezTo>
                <a:cubicBezTo>
                  <a:pt x="21600" y="4201"/>
                  <a:pt x="21238" y="1468"/>
                  <a:pt x="18981" y="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7" name="成组"/>
          <p:cNvGrpSpPr/>
          <p:nvPr/>
        </p:nvGrpSpPr>
        <p:grpSpPr>
          <a:xfrm>
            <a:off x="2356553" y="5489648"/>
            <a:ext cx="2146301" cy="2334715"/>
            <a:chOff x="0" y="0"/>
            <a:chExt cx="2146300" cy="2334713"/>
          </a:xfrm>
        </p:grpSpPr>
        <p:sp>
          <p:nvSpPr>
            <p:cNvPr id="4" name="目录"/>
            <p:cNvSpPr txBox="1"/>
            <p:nvPr/>
          </p:nvSpPr>
          <p:spPr>
            <a:xfrm>
              <a:off x="0" y="0"/>
              <a:ext cx="2146300" cy="152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>
                  <a:solidFill>
                    <a:srgbClr val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r>
                <a:t>目录</a:t>
              </a:r>
            </a:p>
          </p:txBody>
        </p:sp>
        <p:sp>
          <p:nvSpPr>
            <p:cNvPr id="5" name="线条"/>
            <p:cNvSpPr/>
            <p:nvPr/>
          </p:nvSpPr>
          <p:spPr>
            <a:xfrm>
              <a:off x="167770" y="1506240"/>
              <a:ext cx="1810760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/>
          </p:txBody>
        </p:sp>
        <p:sp>
          <p:nvSpPr>
            <p:cNvPr id="6" name="Content"/>
            <p:cNvSpPr txBox="1"/>
            <p:nvPr/>
          </p:nvSpPr>
          <p:spPr>
            <a:xfrm>
              <a:off x="90169" y="1521913"/>
              <a:ext cx="1965961" cy="81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PingFang SC Light" panose="020B0400000000000000" charset="-122"/>
                  <a:ea typeface="PingFang SC Light" panose="020B0400000000000000" charset="-122"/>
                  <a:cs typeface="PingFang SC Light" panose="020B0400000000000000" charset="-122"/>
                  <a:sym typeface="PingFang SC Light" panose="020B0400000000000000" charset="-122"/>
                </a:defRPr>
              </a:lvl1pPr>
            </a:lstStyle>
            <a:p>
              <a:r>
                <a:t>Content</a:t>
              </a:r>
            </a:p>
          </p:txBody>
        </p:sp>
      </p:grpSp>
      <p:sp>
        <p:nvSpPr>
          <p:cNvPr id="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0258676" y="2729994"/>
            <a:ext cx="21971001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9" name="未命名.jpg" descr="未命名.jpg"/>
          <p:cNvPicPr>
            <a:picLocks noChangeAspect="1"/>
          </p:cNvPicPr>
          <p:nvPr/>
        </p:nvPicPr>
        <p:blipFill>
          <a:blip r:embed="rId8">
            <a:alphaModFix amt="80028"/>
          </a:blip>
          <a:stretch>
            <a:fillRect/>
          </a:stretch>
        </p:blipFill>
        <p:spPr>
          <a:xfrm>
            <a:off x="19841111" y="430850"/>
            <a:ext cx="1636706" cy="737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" name="未命名.jpg" descr="未命名.jp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1688890" y="597552"/>
            <a:ext cx="2015020" cy="5306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763346" y="3944134"/>
            <a:ext cx="13118449" cy="98321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9pPr>
    </p:titleStyle>
    <p:bodyStyle>
      <a:lvl1pPr marL="6096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1pPr>
      <a:lvl2pPr marL="12192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2pPr>
      <a:lvl3pPr marL="18288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3pPr>
      <a:lvl4pPr marL="24384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4pPr>
      <a:lvl5pPr marL="30480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5pPr>
      <a:lvl6pPr marL="36576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6pPr>
      <a:lvl7pPr marL="42672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7pPr>
      <a:lvl8pPr marL="48768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8pPr>
      <a:lvl9pPr marL="54864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成组"/>
          <p:cNvGrpSpPr/>
          <p:nvPr/>
        </p:nvGrpSpPr>
        <p:grpSpPr>
          <a:xfrm>
            <a:off x="3672743" y="3507853"/>
            <a:ext cx="17038512" cy="4899548"/>
            <a:chOff x="-1" y="0"/>
            <a:chExt cx="17038510" cy="4899546"/>
          </a:xfrm>
        </p:grpSpPr>
        <p:sp>
          <p:nvSpPr>
            <p:cNvPr id="70" name="智泊AI大模型实战课"/>
            <p:cNvSpPr txBox="1"/>
            <p:nvPr/>
          </p:nvSpPr>
          <p:spPr>
            <a:xfrm>
              <a:off x="0" y="0"/>
              <a:ext cx="17038509" cy="127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7200" spc="3096">
                  <a:solidFill>
                    <a:srgbClr val="FFFFFF"/>
                  </a:solidFill>
                  <a:latin typeface="PingFang SC Light" panose="020B0400000000000000" charset="-122"/>
                  <a:ea typeface="PingFang SC Light" panose="020B0400000000000000" charset="-122"/>
                  <a:cs typeface="PingFang SC Light" panose="020B0400000000000000" charset="-122"/>
                  <a:sym typeface="PingFang SC Light" panose="020B0400000000000000" charset="-122"/>
                </a:defRPr>
              </a:lvl1pPr>
            </a:lstStyle>
            <a:p>
              <a:r>
                <a:rPr>
                  <a:latin typeface=".萍方-简" panose="020B0300000000000000" charset="-122"/>
                  <a:ea typeface=".萍方-简" panose="020B0300000000000000" charset="-122"/>
                  <a:cs typeface=".萍方-简" panose="020B0300000000000000" charset="-122"/>
                </a:rPr>
                <a:t>智泊AI大模型实战课</a:t>
              </a:r>
              <a:endParaRPr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endParaRPr>
            </a:p>
          </p:txBody>
        </p:sp>
        <p:sp>
          <p:nvSpPr>
            <p:cNvPr id="71" name="这里是本节课程的课题"/>
            <p:cNvSpPr txBox="1"/>
            <p:nvPr/>
          </p:nvSpPr>
          <p:spPr>
            <a:xfrm>
              <a:off x="-1" y="1800745"/>
              <a:ext cx="17038510" cy="309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8800" spc="968">
                  <a:solidFill>
                    <a:srgbClr val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r>
                <a:rPr lang="en-US" altLang="zh-CN">
                  <a:latin typeface=".萍方-简" panose="020B0300000000000000" charset="-122"/>
                  <a:ea typeface=".萍方-简" panose="020B0300000000000000" charset="-122"/>
                  <a:sym typeface="+mn-ea"/>
                </a:rPr>
                <a:t>python</a:t>
              </a:r>
              <a:r>
                <a:rPr lang="zh-CN" altLang="en-US">
                  <a:latin typeface=".萍方-简" panose="020B0300000000000000" charset="-122"/>
                  <a:ea typeface=".萍方-简" panose="020B0300000000000000" charset="-122"/>
                  <a:sym typeface="+mn-ea"/>
                </a:rPr>
                <a:t>基础知识讲解</a:t>
              </a:r>
              <a:endPara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endParaRPr>
            </a:p>
          </p:txBody>
        </p:sp>
      </p:grpSp>
      <p:sp>
        <p:nvSpPr>
          <p:cNvPr id="74" name="主讲人：你的名字"/>
          <p:cNvSpPr txBox="1"/>
          <p:nvPr/>
        </p:nvSpPr>
        <p:spPr>
          <a:xfrm>
            <a:off x="7140115" y="9536107"/>
            <a:ext cx="10103770" cy="53848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pPr>
            <a:r>
              <a:t>主讲人：</a:t>
            </a:r>
            <a:r>
              <a:rPr lang="zh-CN"/>
              <a:t>小威</a:t>
            </a:r>
            <a:r>
              <a:rPr lang="zh-CN" altLang="en-US"/>
              <a:t>老师</a:t>
            </a:r>
            <a:endParaRPr lang="en-US" altLang="zh-CN"/>
          </a:p>
        </p:txBody>
      </p:sp>
      <p:sp>
        <p:nvSpPr>
          <p:cNvPr id="75" name="MoPass「魔泊云」· 智泊AI人工智能研究院"/>
          <p:cNvSpPr txBox="1"/>
          <p:nvPr/>
        </p:nvSpPr>
        <p:spPr>
          <a:xfrm>
            <a:off x="7140115" y="10356559"/>
            <a:ext cx="10103770" cy="355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  <a:sym typeface="PingFang SC Light" panose="020B0400000000000000" charset="-122"/>
              </a:defRPr>
            </a:lvl1pPr>
          </a:lstStyle>
          <a:p>
            <a:r>
              <a:t>MoPass「魔泊云」· 智泊AI人工智能研究院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这里是目录 1…"/>
          <p:cNvSpPr txBox="1">
            <a:spLocks noGrp="1"/>
          </p:cNvSpPr>
          <p:nvPr>
            <p:ph type="body" idx="1"/>
          </p:nvPr>
        </p:nvSpPr>
        <p:spPr>
          <a:xfrm>
            <a:off x="9010015" y="2814955"/>
            <a:ext cx="13611225" cy="8086090"/>
          </a:xfrm>
          <a:prstGeom prst="rect">
            <a:avLst/>
          </a:prstGeom>
        </p:spPr>
        <p:txBody>
          <a:bodyPr>
            <a:normAutofit lnSpcReduction="20000"/>
          </a:bodyPr>
          <a:lstStyle/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</a:t>
            </a: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、学习心态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很重要，不要有畏难情绪</a:t>
            </a:r>
            <a:endParaRPr lang="zh-CN" altLang="en-US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2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、我们已经告别“古法编程”了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3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、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Python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很重要，我们的学习目标要分层</a:t>
            </a:r>
            <a:endParaRPr lang="zh-CN" altLang="en-US" b="1" dirty="0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这里是目录 1…"/>
          <p:cNvSpPr txBox="1">
            <a:spLocks noGrp="1"/>
          </p:cNvSpPr>
          <p:nvPr>
            <p:ph type="body" idx="1"/>
          </p:nvPr>
        </p:nvSpPr>
        <p:spPr>
          <a:xfrm>
            <a:off x="9702800" y="2814955"/>
            <a:ext cx="10680065" cy="808609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print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输出函数和变量的基本使用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数据类型的概念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常用的运算符</a:t>
            </a:r>
            <a:endParaRPr lang="zh-CN" altLang="en-US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循环和分支结构</a:t>
            </a:r>
            <a:endParaRPr lang="zh-CN" altLang="en-US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函数的基本概念</a:t>
            </a: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 </a:t>
            </a:r>
            <a:endParaRPr lang="en-US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b="1" dirty="0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类和对象的</a:t>
            </a:r>
            <a:r>
              <a:rPr lang="zh-CN" altLang="en-US" b="1" dirty="0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概念</a:t>
            </a:r>
            <a:endParaRPr lang="zh-CN" altLang="en-US" b="1" dirty="0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en-US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print</a:t>
            </a:r>
            <a:r>
              <a:rPr lang="zh-CN" altLang="en-US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输出函数</a:t>
            </a:r>
            <a:endParaRPr lang="zh-CN" altLang="en-US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solidFill>
                <a:srgbClr val="262C5B"/>
              </a:solidFill>
              <a:latin typeface=".萍方-简" panose="020B0300000000000000" charset="-122"/>
              <a:ea typeface=".萍方-简" panose="020B0300000000000000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88838" y="2340779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常规方法-</a:t>
            </a:r>
            <a:r>
              <a:rPr lang="en-US" altLang="zh-CN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print</a:t>
            </a:r>
            <a:endParaRPr lang="en-US" altLang="zh-CN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89050" y="3632835"/>
            <a:ext cx="21216620" cy="78066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print() </a:t>
            </a: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是一个内置函数，用于将文本和变量输出到控制台或标准输出设备上。</a:t>
            </a: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print() </a:t>
            </a: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函数接受任意数量的参数，可以是字符串、数字或其他数据。</a:t>
            </a:r>
            <a:endParaRPr lang="en-US" altLang="zh-CN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print() 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函数的语法</a:t>
            </a:r>
            <a:endParaRPr lang="zh-CN" altLang="en-US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基本格式：</a:t>
            </a:r>
            <a:r>
              <a:rPr lang="en-US" altLang="zh-CN" sz="4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print(*objects)</a:t>
            </a:r>
            <a:endParaRPr lang="en-US" altLang="zh-CN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其中：</a:t>
            </a:r>
            <a:r>
              <a:rPr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*objects </a:t>
            </a: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是指零个或多个要打印的数据</a:t>
            </a: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zh-CN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变量的基本使用</a:t>
            </a:r>
            <a:endParaRPr lang="zh-CN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solidFill>
                <a:srgbClr val="262C5B"/>
              </a:solidFill>
              <a:latin typeface=".萍方-简" panose="020B0300000000000000" charset="-122"/>
              <a:ea typeface=".萍方-简" panose="020B0300000000000000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88838" y="2295059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什么是变量？</a:t>
            </a:r>
            <a:endParaRPr lang="zh-CN" altLang="en-US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89050" y="3405505"/>
            <a:ext cx="21216620" cy="645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在计算机编程语言中，变量是用于存储和表示数据值的名称。</a:t>
            </a: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3918" y="4555659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变量的作用</a:t>
            </a:r>
            <a:endParaRPr lang="zh-CN" altLang="en-US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4130" y="5666105"/>
            <a:ext cx="21216620" cy="645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变量通常用于保存程序运行时需要使用的各种值（数据），如数字、字符串、布尔值等。</a:t>
            </a: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3918" y="6826419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变量的基本使用</a:t>
            </a:r>
            <a:endParaRPr lang="zh-CN" altLang="en-US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94130" y="7936865"/>
            <a:ext cx="21216620" cy="24453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eaLnBrk="1">
              <a:spcBef>
                <a:spcPts val="2700"/>
              </a:spcBef>
            </a:pP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定义变量的基本格式：变量名</a:t>
            </a:r>
            <a:r>
              <a:rPr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</a:t>
            </a: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eaLnBrk="1">
              <a:spcBef>
                <a:spcPts val="2700"/>
              </a:spcBef>
            </a:pP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如：</a:t>
            </a:r>
            <a:r>
              <a:rPr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 = 10</a:t>
            </a:r>
            <a:endParaRPr lang="en-US" altLang="zh-CN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>
              <a:spcBef>
                <a:spcPts val="2700"/>
              </a:spcBef>
            </a:pP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zh-CN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数据类型</a:t>
            </a:r>
            <a:endParaRPr lang="zh-CN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数据类型的概念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38493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编程中的数据是指在计算机程序中使用的各种信息，包括数字、文本、图像、音频、视频、布尔值、数组、列表等。数据可以存储在变量、常量、数组或其他数据结构中，并在程序中进行处理和操作。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数据还可以根据其类型进行分类，例如整数、浮点数、字符串、布尔值等等。程序员需要了解不同类型的数据及其特点，以便正确地使用和处理数据，实现所需的程序功能。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5855" y="7616825"/>
            <a:ext cx="731647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常用数据类型有哪些？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0935" y="8717280"/>
            <a:ext cx="21734145" cy="21780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/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常用数据类型包括以下几种：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eaLnBrk="1"/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整数、浮点数、字符串、布尔值、列表、元组、字典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2912110"/>
            <a:ext cx="21734145" cy="89420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整数（</a:t>
            </a:r>
            <a:r>
              <a:rPr lang="en-US" altLang="zh-CN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int）</a:t>
            </a:r>
            <a:r>
              <a:rPr lang="en-US" altLang="zh-CN" sz="4000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lang="en-US" altLang="zh-CN" sz="4000" b="1">
              <a:solidFill>
                <a:srgbClr val="000000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/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整数是没有小数部分的数字。在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中，整数可以是正数、负数或零。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例如：1、2、3、4、5、6、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123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-21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......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浮点数（</a:t>
            </a:r>
            <a:r>
              <a:rPr lang="en-US" altLang="zh-CN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float）：</a:t>
            </a:r>
            <a:endParaRPr lang="en-US" altLang="zh-CN" b="1">
              <a:solidFill>
                <a:srgbClr val="000000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/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浮点数是带有小数部分的数字。在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中，浮点数可以是正数、负数或零。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例如：1.1、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3.14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10.5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-9.9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布尔型（</a:t>
            </a:r>
            <a:r>
              <a:rPr lang="en-US" altLang="zh-CN" b="1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bool）：</a:t>
            </a:r>
            <a:endParaRPr lang="en-US" altLang="zh-CN" b="1">
              <a:solidFill>
                <a:srgbClr val="000000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/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布尔型只有两个值，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True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False。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它们通常用于流程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控制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语句中的条件。</a:t>
            </a:r>
            <a:endParaRPr 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747135"/>
            <a:ext cx="21734145" cy="78759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中，字符串（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str）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可以被定义为一系列字符 (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characters)，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这些字符可以是字母、数字或者其他任意字符。例如：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my_string = "Hello World!"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在上面的例子中，我们定义了一个名为 `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my_string`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的字符串。它由 12 个字符组成，其中包括字母、空格和标点符号。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注意：字符串必须用双引号或单引号括起来，在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python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中也可以使用三引号括起来。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单引号：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 '</a:t>
            </a:r>
            <a:b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双引号：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" "</a:t>
            </a:r>
            <a:b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三引号：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''' '''    """ """</a:t>
            </a:r>
            <a:b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（三引号是三个单引号或者三个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双引号）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字符串（</a:t>
            </a:r>
            <a:r>
              <a:rPr lang="en-US" altLang="zh-CN" b="1">
                <a:solidFill>
                  <a:schemeClr val="tx1"/>
                </a:solidFill>
                <a:ea typeface="汉仪旗黑 75S" panose="00020600040101010101" charset="-122"/>
              </a:rPr>
              <a:t>str</a:t>
            </a:r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）</a:t>
            </a:r>
            <a:endParaRPr lang="en-US" altLang="zh-CN" b="1">
              <a:solidFill>
                <a:schemeClr val="tx1"/>
              </a:solidFill>
              <a:ea typeface="汉仪旗黑 75S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329940"/>
            <a:ext cx="21734145" cy="8680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例如：</a:t>
            </a:r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name1 = '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张三'</a:t>
            </a:r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name2 = "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李四"</a:t>
            </a:r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name3 = """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王五"""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其中，三引号一般表示多行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字符串，用于字符串跨行。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例如：</a:t>
            </a:r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text1 = 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"""</a:t>
            </a:r>
            <a:b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好好学习，</a:t>
            </a:r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天天向上。</a:t>
            </a:r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"""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字符串的</a:t>
            </a:r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使用</a:t>
            </a:r>
            <a:endParaRPr lang="zh-CN" altLang="en-US" b="1">
              <a:solidFill>
                <a:schemeClr val="tx1"/>
              </a:solidFill>
              <a:ea typeface="汉仪旗黑 75S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329940"/>
            <a:ext cx="21734145" cy="8680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列表是一个能够存储多个元素的序列，列表中的元素是指列表中每个单独的数据项，一个列表是由一系列元素组成的，其符号为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[ ]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例如：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list1 = [85, 77, 59, 81, 98, 63]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可以使用索引（下标）操作列表中的每一个元素，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索引（下标）是从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开始的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。如：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print(list1[0])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85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，输出列表中的第一个元素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，索引为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代表第一个元素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print(list1[1])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77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，输出列表中的第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二个元素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print(list1[5])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63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，输出列表中索引为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的元素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list1[3] = 90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将列表中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索引为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的元素修改为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55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列表（</a:t>
            </a:r>
            <a:r>
              <a:rPr lang="en-US" altLang="zh-CN" b="1">
                <a:solidFill>
                  <a:schemeClr val="tx1"/>
                </a:solidFill>
                <a:ea typeface="汉仪旗黑 75S" panose="00020600040101010101" charset="-122"/>
              </a:rPr>
              <a:t>list</a:t>
            </a:r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）</a:t>
            </a:r>
            <a:endParaRPr lang="zh-CN" altLang="en-US" b="1">
              <a:solidFill>
                <a:schemeClr val="tx1"/>
              </a:solidFill>
              <a:ea typeface="汉仪旗黑 75S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329940"/>
            <a:ext cx="21734145" cy="8680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与列表类似，元组也是一个能够存储多个元素的序列，使用方式也一样，只不过它不可被修改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，其符号为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( )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例如：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tuple2= (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85, 77, 59, 81, 98, 63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可以使用索引（下标）操作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元组中的每一个元素，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索引（下标）是从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开始的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。如：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tuple2[0])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85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元组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中的第一个元素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，索引为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代表第一个元素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tuple2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[3])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81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元组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中的第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四个元素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注意：元组中的元素不可被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修改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tuple2[4] = </a:t>
            </a:r>
            <a:r>
              <a:rPr 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100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错误：元组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不可被修改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元组（</a:t>
            </a:r>
            <a:r>
              <a:rPr lang="en-US" altLang="zh-CN" b="1">
                <a:solidFill>
                  <a:schemeClr val="tx1"/>
                </a:solidFill>
                <a:ea typeface="汉仪旗黑 75S" panose="00020600040101010101" charset="-122"/>
              </a:rPr>
              <a:t>tuple</a:t>
            </a:r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）</a:t>
            </a:r>
            <a:endParaRPr lang="zh-CN" altLang="en-US" b="1">
              <a:solidFill>
                <a:schemeClr val="tx1"/>
              </a:solidFill>
              <a:ea typeface="汉仪旗黑 75S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329940"/>
            <a:ext cx="21734145" cy="8680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字典是一种能够保存多组信息的数据类型，里面可以保存多组键值对，其可以被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修改，符号为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{键：值，键：值 }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例如：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dict3 = {'name':'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小明'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gender':'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男'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'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age':35}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b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可以使用键值对的形式使用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字典中的每一个元素。如：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dict3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[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'name'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])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小明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dict3[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age']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35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字典中的值可以被修改，但是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键不可被修改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dict3[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age']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36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#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把年龄从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35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修改为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36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字典（</a:t>
            </a:r>
            <a:r>
              <a:rPr lang="en-US" altLang="zh-CN" b="1">
                <a:solidFill>
                  <a:schemeClr val="tx1"/>
                </a:solidFill>
                <a:ea typeface="汉仪旗黑 75S" panose="00020600040101010101" charset="-122"/>
              </a:rPr>
              <a:t>dict</a:t>
            </a:r>
            <a:r>
              <a:rPr lang="zh-CN" altLang="en-US" b="1">
                <a:solidFill>
                  <a:schemeClr val="tx1"/>
                </a:solidFill>
                <a:ea typeface="汉仪旗黑 75S" panose="00020600040101010101" charset="-122"/>
              </a:rPr>
              <a:t>）</a:t>
            </a:r>
            <a:endParaRPr lang="zh-CN" altLang="en-US" b="1">
              <a:solidFill>
                <a:schemeClr val="tx1"/>
              </a:solidFill>
              <a:ea typeface="汉仪旗黑 75S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zh-CN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常用运算符</a:t>
            </a:r>
            <a:endParaRPr lang="zh-CN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算术运算符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1976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中用于进行算术运算的符号称为算术运算符。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有以下几种算术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运算符，下面以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a=10 ,b=20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为例进行计算。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895" y="5548630"/>
            <a:ext cx="18951575" cy="72682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比较运算符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1976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中用于比较数据大小关系的符号称为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比较运算符。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有以下几种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比较运算符。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365" y="5507355"/>
            <a:ext cx="21082635" cy="72085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逻辑运算符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1976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中用于表示逻辑关系的符号称为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逻辑运算符。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有以下几种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逻辑运算符。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670" y="6014720"/>
            <a:ext cx="21537295" cy="43167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zh-CN" altLang="en-US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循环与分支</a:t>
            </a:r>
            <a:endParaRPr lang="zh-CN" altLang="en-US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汉仪旗黑 75S" panose="00020600040101010101" charset="-122"/>
              </a:rPr>
              <a:t>if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分支结构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7689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if、elif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是条件语句，用于基于不同的情况执行不同的代码块。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 descr="if判断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3170" y="4412615"/>
            <a:ext cx="11757025" cy="80860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汉仪旗黑 75S" panose="00020600040101010101" charset="-122"/>
              </a:rPr>
              <a:t>if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单分支结构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8477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语句用于检查一个条件是否为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True，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如果条件为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True，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则执行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块中的代码。例如，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判断一个数是否为正数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= 5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if x &gt; 0: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print("x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是正数")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上面的代码中，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语句检查变量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是否大于 0，如果满足条件，则打印出“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是正数”。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汉仪旗黑 75S" panose="00020600040101010101" charset="-122"/>
              </a:rPr>
              <a:t>if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双分支结构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8477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elif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是另外一个条件语句（ 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elseif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的缩写），它通常与 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if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一起使用，用于检查多个条件并在条件得到满足时执行相应的代码块。例如：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x = 5</a:t>
            </a:r>
            <a:b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if x &lt; 0:</a:t>
            </a:r>
            <a:b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print('x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是负数')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elif x == 0:</a:t>
            </a:r>
            <a:b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print('x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等于0')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else:</a:t>
            </a:r>
            <a:b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print('x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是正数')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上面的代码中，如果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小于 0，则打印出“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是负数”，如果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等于 0，则打印出“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等于 0”，否则打印出“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是正数”。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汉仪旗黑 75S" panose="00020600040101010101" charset="-122"/>
              </a:rPr>
              <a:t>for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循环结构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83845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循环是一种常用的控制结构，它可以重复执行一段代码，直到序列中所有元素都被遍历完为止。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基本格式：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变量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序列: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# 代码块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变量：是定义的循环变量，每次循环时都会从序列中取出一个元素并赋值给该变量；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序列：是需要循环遍历的数据，可以是列表、元组、字符串等数据。 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汉仪旗黑 75S" panose="00020600040101010101" charset="-122"/>
              </a:rPr>
              <a:t>for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循环的基本使用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1734145" cy="8740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例如，以下代码使用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for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循环遍历一个列表中的所有元素，并输出每个元素的值：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fruits = ["apple", "banana", "cherry"]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for fruit in fruits: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print(fruit)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我们定义了一个列表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fruits，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然后使用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循环逐个遍历所有元素，并通过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print()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函数输出每个元素。</a:t>
            </a:r>
            <a:endParaRPr lang="en-US" altLang="zh-CN" sz="36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spcBef>
                <a:spcPts val="1500"/>
              </a:spcBef>
            </a:pPr>
            <a:r>
              <a:rPr lang="zh-CN" altLang="en-US" sz="36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控制台输出结果为：</a:t>
            </a:r>
            <a:endParaRPr lang="zh-CN" altLang="en-US" sz="36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eaLnBrk="1">
              <a:spcBef>
                <a:spcPts val="1500"/>
              </a:spcBef>
            </a:pPr>
            <a:r>
              <a:rPr lang="en-US" altLang="zh-CN" sz="36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apple</a:t>
            </a:r>
            <a:endParaRPr lang="en-US" altLang="zh-CN" sz="36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eaLnBrk="1">
              <a:spcBef>
                <a:spcPts val="1500"/>
              </a:spcBef>
            </a:pPr>
            <a:r>
              <a:rPr lang="en-US" altLang="zh-CN" sz="36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banana</a:t>
            </a:r>
            <a:endParaRPr lang="en-US" altLang="zh-CN" sz="36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eaLnBrk="1">
              <a:spcBef>
                <a:spcPts val="1500"/>
              </a:spcBef>
            </a:pPr>
            <a:r>
              <a:rPr lang="en-US" altLang="zh-CN" sz="36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cherry</a:t>
            </a:r>
            <a:endParaRPr lang="en-US" altLang="zh-CN" sz="36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zh-CN" altLang="en-US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函数</a:t>
            </a:r>
            <a:endParaRPr lang="zh-CN" altLang="en-US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函数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183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中，函数是一种可重用的代码块，用于执行特定的任务。通过将代码封装在函数中，可以使程序更加模块化、易于维护和扩展。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当我们需要在程序中执行一些重复性的任务时，可以使用函数来封装这些任务代码，然后在需要的地方调用该函数。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优势：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函数能够提高代码的可读性和可维护性，因为它们能够将复杂的任务分解成小块，并命名好每个部分。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函数可以节省时间和减少出错率，因为它们能够避免重复编写相同代码，从而提高开发效率。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函数可以使程序更模块化，使得代码更加清晰和容易组织。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函数的定义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183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Python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中定义函数的基本语法如下：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def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函数名(参数1, 参数2, ...):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函数体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return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其中：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是定义函数的关键字；函数名 是自己取的函数名称，应符合变量命名规则，以便调用函数时使用该名称；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、参数1, 参数2, ... 是需要传递给函数的零个或多个参数，多个参数之间用逗号分隔；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、函数体中是实现具体功能的代码；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返回值 是返回函数结果的关键字和表达式。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后面的表达式可以是常量、变量、运算表达式等，也可以没有返回值（即不带表达式直接使用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，或者不写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函数的调用</a:t>
            </a:r>
            <a:endParaRPr lang="en-US" altLang="zh-CN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78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# Python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中调用函数的基本格式如下：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# 如：计算两个数的和的函数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def add(x, y):</a:t>
            </a:r>
            <a:b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result = x + y</a:t>
            </a:r>
            <a:b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return result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s = add(3, 4)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#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函数调用：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s = 7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这里定义了一个名为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的函数，接收两个参数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y，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并将它们相加得到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result，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最后返回结果。通过调用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add(3, 4)，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我们可以打印出 7。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函数的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参数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78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在函数调用时需要传递给函数的数据称为函数参数。函数参数用于从函数外部向函数内部传递数据，一般传递的是函数执行时需要的数据。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例如：定义一个用于求正方形周长的函数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def zhouchang(x):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print(f"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边长为{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x}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的正方形，其周长为{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* 4}。")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zhouchang(5) # 20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zhouchang(12) # 48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函数的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返回值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78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函数的返回值就是函数的运行结果，如果这个函数的结果需要在其他函数中使用，那么这个函数就应该被定义为带返回值的函数，并在函数体中使用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关键字返回这个结果。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例如：定义一个函数用于求两个数的和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def Sum(a, b):  #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有参数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也有返回值的函数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s = a + b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return s  #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返回函数执行的结果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result = Sum(10, 20)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result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)  # 30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498407" y="5608987"/>
            <a:ext cx="17363459" cy="22480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438400">
              <a:lnSpc>
                <a:spcPct val="80000"/>
              </a:lnSpc>
            </a:pPr>
            <a:r>
              <a:rPr lang="zh-CN" altLang="en-US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类和</a:t>
            </a:r>
            <a:r>
              <a:rPr lang="zh-CN" altLang="en-US" sz="10000" spc="-200">
                <a:solidFill>
                  <a:srgbClr val="FFFFFF"/>
                </a:solidFill>
                <a:latin typeface=".萍方-简" panose="020B0300000000000000" charset="-122"/>
                <a:ea typeface=".萍方-简" panose="020B0300000000000000" charset="-122"/>
              </a:rPr>
              <a:t>对象</a:t>
            </a:r>
            <a:endParaRPr lang="zh-CN" altLang="en-US" sz="10000" spc="-200">
              <a:solidFill>
                <a:srgbClr val="FFFFFF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类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和对象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78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类(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Class)：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把一类对象的公共属性和行为封装起来形成一个具体的概念。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什么是类？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“类”可以理解为“分类”、“类别”或者“类型”的意思。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程序语言中的类，就是将程序中内容进行“分类”，或者称为“类型”。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类就是程序语言中的一种新的数据类型，是一种自定义数据类型（构造数据类型），自己定义规则的数据类型。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对象(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Object)：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类的实例化，即具体的“事物”，每个对象都有自己的数据和方法。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125854" y="363097"/>
            <a:ext cx="10477501" cy="977388"/>
          </a:xfrm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python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基础知识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5644" y="2322036"/>
            <a:ext cx="12192000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类的</a:t>
            </a:r>
            <a:r>
              <a:rPr lang="zh-CN" altLang="en-US">
                <a:solidFill>
                  <a:schemeClr val="tx1"/>
                </a:solidFill>
                <a:ea typeface="汉仪旗黑 75S" panose="00020600040101010101" charset="-122"/>
              </a:rPr>
              <a:t>定义</a:t>
            </a:r>
            <a:endParaRPr lang="zh-CN" altLang="en-US">
              <a:solidFill>
                <a:schemeClr val="tx1"/>
              </a:solidFill>
              <a:ea typeface="汉仪旗黑 75S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855" y="3422650"/>
            <a:ext cx="22074505" cy="878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Python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中，使用 </a:t>
            </a: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关键字来定义类。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类的基本语法如下：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class ClassName:</a:t>
            </a: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# class body  #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类体：类的主体（身体）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endParaRPr lang="en-US" altLang="zh-CN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>
              <a:lnSpc>
                <a:spcPct val="100000"/>
              </a:lnSpc>
            </a:pP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ClassName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为类名（类的名称），类名与变量名类似，都是一个名字，都要符合标识符的命名规则。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class body </a:t>
            </a: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即为类体(类的主体)，用于描述类的属性（数据）和行为（函数）。</a:t>
            </a:r>
            <a:b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类体包含各种属性和方法，用于描述这个类所代表的实体或抽象概念。</a:t>
            </a:r>
            <a:endParaRPr lang="zh-CN" altLang="en-US" sz="4000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commondata" val="eyJoZGlkIjoiYzY1OGRjYjM5ZjVmNjYyZjIzYmIxMTk1NGU3ZDJkMmUifQ==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4911</Words>
  <Application>WPS 演示</Application>
  <PresentationFormat>自定义</PresentationFormat>
  <Paragraphs>283</Paragraphs>
  <Slides>34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66" baseType="lpstr">
      <vt:lpstr>Arial</vt:lpstr>
      <vt:lpstr>宋体</vt:lpstr>
      <vt:lpstr>Wingdings</vt:lpstr>
      <vt:lpstr>Helvetica Neue</vt:lpstr>
      <vt:lpstr>Helvetica Neue Medium</vt:lpstr>
      <vt:lpstr>PingFang SC Semibold</vt:lpstr>
      <vt:lpstr>PingFang SC Light</vt:lpstr>
      <vt:lpstr>楷体</vt:lpstr>
      <vt:lpstr>.萍方-简</vt:lpstr>
      <vt:lpstr>Wingdings</vt:lpstr>
      <vt:lpstr>微软雅黑</vt:lpstr>
      <vt:lpstr>黑体</vt:lpstr>
      <vt:lpstr>汉仪旗黑 75S</vt:lpstr>
      <vt:lpstr>KSOF77ABD3F2</vt:lpstr>
      <vt:lpstr>FFont-Family</vt:lpstr>
      <vt:lpstr>微软雅黑</vt:lpstr>
      <vt:lpstr>Arial Unicode MS</vt:lpstr>
      <vt:lpstr>KSOFF8957A5C</vt:lpstr>
      <vt:lpstr>Calibri</vt:lpstr>
      <vt:lpstr>KSOFF895EEBB</vt:lpstr>
      <vt:lpstr>Helvetica Neue</vt:lpstr>
      <vt:lpstr>.萍方-简</vt:lpstr>
      <vt:lpstr>Helvetica Neue Medium</vt:lpstr>
      <vt:lpstr>PingFang SC Light</vt:lpstr>
      <vt:lpstr>PingFang SC Semibold</vt:lpstr>
      <vt:lpstr>汉仪旗黑 75S</vt:lpstr>
      <vt:lpstr>Helvetica LT Pro</vt:lpstr>
      <vt:lpstr>Kata SemiBold</vt:lpstr>
      <vt:lpstr>Windsor Std Light</vt:lpstr>
      <vt:lpstr>方正黑仿 简</vt:lpstr>
      <vt:lpstr>汉仪旗黑-75S</vt:lpstr>
      <vt:lpstr>21_BasicWhite</vt:lpstr>
      <vt:lpstr>PowerPoint 演示文稿</vt:lpstr>
      <vt:lpstr>PowerPoint 演示文稿</vt:lpstr>
      <vt:lpstr>PowerPoint 演示文稿</vt:lpstr>
      <vt:lpstr>print输出函数</vt:lpstr>
      <vt:lpstr>python基础知识</vt:lpstr>
      <vt:lpstr>变量的基本使用</vt:lpstr>
      <vt:lpstr>python基础知识</vt:lpstr>
      <vt:lpstr>数据类型</vt:lpstr>
      <vt:lpstr>python基础知识</vt:lpstr>
      <vt:lpstr>python基础知识</vt:lpstr>
      <vt:lpstr>python基础知识</vt:lpstr>
      <vt:lpstr>python基础知识</vt:lpstr>
      <vt:lpstr>python基础知识</vt:lpstr>
      <vt:lpstr>python基础知识</vt:lpstr>
      <vt:lpstr>python基础知识</vt:lpstr>
      <vt:lpstr>常用运算符</vt:lpstr>
      <vt:lpstr>python基础知识</vt:lpstr>
      <vt:lpstr>python基础知识</vt:lpstr>
      <vt:lpstr>python基础知识</vt:lpstr>
      <vt:lpstr>循环与分支</vt:lpstr>
      <vt:lpstr>python基础知识</vt:lpstr>
      <vt:lpstr>python基础知识</vt:lpstr>
      <vt:lpstr>python基础知识</vt:lpstr>
      <vt:lpstr>python基础知识</vt:lpstr>
      <vt:lpstr>python基础知识</vt:lpstr>
      <vt:lpstr>函数</vt:lpstr>
      <vt:lpstr>python基础知识</vt:lpstr>
      <vt:lpstr>python基础知识</vt:lpstr>
      <vt:lpstr>python基础知识</vt:lpstr>
      <vt:lpstr>python基础知识</vt:lpstr>
      <vt:lpstr>python基础知识</vt:lpstr>
      <vt:lpstr>类和对象</vt:lpstr>
      <vt:lpstr>python基础知识</vt:lpstr>
      <vt:lpstr>python基础知识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小威</cp:lastModifiedBy>
  <cp:revision>1983</cp:revision>
  <dcterms:created xsi:type="dcterms:W3CDTF">2025-08-18T12:50:00Z</dcterms:created>
  <dcterms:modified xsi:type="dcterms:W3CDTF">2026-09-15T10:53:59Z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788BC8F5AE1B41898161E6F2DDF15955_13</vt:lpwstr>
  </property>
  <property fmtid="{D5CDD505-2E9C-101B-9397-08002B2CF9AE}" pid="3" name="KSOProductBuildVer">
    <vt:lpwstr>2052-12.1.0.28505</vt:lpwstr>
  </property>
</Properties>
</file>